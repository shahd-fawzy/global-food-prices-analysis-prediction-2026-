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NTI Advanced Data Analysis  |  WFP Global Food Prices 2026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0" y="502920"/>
            <a:ext cx="3886200" cy="3886200"/>
          </a:xfrm>
          <a:prstGeom prst="arc">
            <a:avLst/>
          </a:prstGeom>
          <a:noFill/>
          <a:ln w="20320">
            <a:solidFill>
              <a:srgbClr val="86AEB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170432"/>
            <a:ext cx="2743200" cy="2743200"/>
          </a:xfrm>
          <a:prstGeom prst="arc">
            <a:avLst/>
          </a:prstGeom>
          <a:noFill/>
          <a:ln w="15240">
            <a:solidFill>
              <a:srgbClr val="C7A85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70" kern="0" dirty="0">
                <a:solidFill>
                  <a:srgbClr val="DDE8EC"/>
                </a:solidFill>
              </a:rPr>
              <a:t>FINAL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Food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Prices 2026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8EC"/>
                </a:solidFill>
              </a:rPr>
              <a:t>End-to-End Data Analysis &amp; Prediction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 •  Power BI  •  Tableau  •  Python  •  Machine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5879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BD2"/>
                </a:solidFill>
              </a:rPr>
              <a:t>NTI Advanced Data Analysis Training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66360" y="1234440"/>
            <a:ext cx="6217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5727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445A"/>
                </a:solidFill>
              </a:rPr>
              <a:t>From descriptive analysis to prediction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550408" y="2286000"/>
            <a:ext cx="365760" cy="365760"/>
          </a:xfrm>
          <a:prstGeom prst="ellipse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238201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53328" y="22768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E2C33"/>
                </a:solidFill>
              </a:rPr>
              <a:t>Excel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379208" y="2240280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Structured checks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and pivot analysis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733288" y="2651760"/>
            <a:ext cx="0" cy="228600"/>
          </a:xfrm>
          <a:prstGeom prst="line">
            <a:avLst/>
          </a:prstGeom>
          <a:noFill/>
          <a:ln w="16510">
            <a:solidFill>
              <a:srgbClr val="D8E0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0408" y="2898648"/>
            <a:ext cx="365760" cy="365760"/>
          </a:xfrm>
          <a:prstGeom prst="ellipse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99466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53328" y="28895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E2C33"/>
                </a:solidFill>
              </a:rPr>
              <a:t>Power BI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379208" y="285292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Star schema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&amp; dashboard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733288" y="3264408"/>
            <a:ext cx="0" cy="228600"/>
          </a:xfrm>
          <a:prstGeom prst="line">
            <a:avLst/>
          </a:prstGeom>
          <a:noFill/>
          <a:ln w="16510">
            <a:solidFill>
              <a:srgbClr val="D8E0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0408" y="3511296"/>
            <a:ext cx="365760" cy="365760"/>
          </a:xfrm>
          <a:prstGeom prst="ellipse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36073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53328" y="3502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E2C33"/>
                </a:solidFill>
              </a:rPr>
              <a:t>Tableau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379208" y="3465576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Interactive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visual exploration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733288" y="3877056"/>
            <a:ext cx="0" cy="228600"/>
          </a:xfrm>
          <a:prstGeom prst="line">
            <a:avLst/>
          </a:prstGeom>
          <a:noFill/>
          <a:ln w="16510">
            <a:solidFill>
              <a:srgbClr val="D8E0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0408" y="4123944"/>
            <a:ext cx="365760" cy="365760"/>
          </a:xfrm>
          <a:prstGeom prst="ellipse">
            <a:avLst/>
          </a:prstGeom>
          <a:solidFill>
            <a:srgbClr val="2E5B73"/>
          </a:solidFill>
          <a:ln w="12700">
            <a:solidFill>
              <a:srgbClr val="2E5B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421995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53328" y="4114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E2C33"/>
                </a:solidFill>
              </a:rPr>
              <a:t>Python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379208" y="4078224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Cleaning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&amp; EDA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733288" y="4489704"/>
            <a:ext cx="0" cy="228600"/>
          </a:xfrm>
          <a:prstGeom prst="line">
            <a:avLst/>
          </a:prstGeom>
          <a:noFill/>
          <a:ln w="16510">
            <a:solidFill>
              <a:srgbClr val="D8E0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4736592"/>
            <a:ext cx="365760" cy="365760"/>
          </a:xfrm>
          <a:prstGeom prst="ellipse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483260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53328" y="47274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E2C33"/>
                </a:solidFill>
              </a:rPr>
              <a:t>ML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7379208" y="4690872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Regression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&amp; prediction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5532120" y="54406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7767D"/>
                </a:solidFill>
              </a:rPr>
              <a:t>Common dataset  |  84,920 cleaned rows  |  59 countries  |  2026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Project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A shared dataset, five tools, one analytical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960120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Cleaned records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58952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84,920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0" y="12344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234440"/>
            <a:ext cx="64008" cy="960120"/>
          </a:xfrm>
          <a:prstGeom prst="rect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3807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Countries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07792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59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892040" y="12344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234440"/>
            <a:ext cx="64008" cy="960120"/>
          </a:xfrm>
          <a:prstGeom prst="rect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13807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Original columns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56632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17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040880" y="12344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234440"/>
            <a:ext cx="64008" cy="960120"/>
          </a:xfrm>
          <a:prstGeom prst="rect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3807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Markets (Tableau)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05472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1,722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18972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234440"/>
            <a:ext cx="64008" cy="960120"/>
          </a:xfrm>
          <a:prstGeom prst="rect">
            <a:avLst/>
          </a:prstGeom>
          <a:solidFill>
            <a:srgbClr val="2E5B73"/>
          </a:solidFill>
          <a:ln w="12700">
            <a:solidFill>
              <a:srgbClr val="2E5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4312" y="13807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Commodities (Power BI)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54312" y="1618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539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94360" y="2487168"/>
            <a:ext cx="10972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2770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45A"/>
                </a:solidFill>
              </a:rPr>
              <a:t>Project goal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054096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C33"/>
                </a:solidFill>
              </a:rPr>
              <a:t>Study global food prices in 2026, explain the main patterns, and move from descriptive analysis to price prediction.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4343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7767D"/>
                </a:solidFill>
              </a:rPr>
              <a:t>The same WFP Global Food Prices dataset was reused across the project, while each tool answered a different part of the analytical workflow.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343400" y="2743200"/>
            <a:ext cx="29718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2743200"/>
            <a:ext cx="73152" cy="713232"/>
          </a:xfrm>
          <a:prstGeom prst="rect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2871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C33"/>
                </a:solidFill>
              </a:rPr>
              <a:t>Excel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577840" y="2834640"/>
            <a:ext cx="1527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767D"/>
                </a:solidFill>
              </a:rPr>
              <a:t>Quick structured checks, PivotTables and focused charts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0" y="2743200"/>
            <a:ext cx="29718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2743200"/>
            <a:ext cx="73152" cy="713232"/>
          </a:xfrm>
          <a:prstGeom prst="rect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2871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C33"/>
                </a:solidFill>
              </a:rPr>
              <a:t>Power BI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915400" y="2834640"/>
            <a:ext cx="1527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767D"/>
                </a:solidFill>
              </a:rPr>
              <a:t>Data modeling, Star Schema, DAX measures and dashboard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3657600"/>
            <a:ext cx="29718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3657600"/>
            <a:ext cx="73152" cy="713232"/>
          </a:xfrm>
          <a:prstGeom prst="rect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53712" y="37856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C33"/>
                </a:solidFill>
              </a:rPr>
              <a:t>Tableau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577840" y="3749040"/>
            <a:ext cx="1527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767D"/>
                </a:solidFill>
              </a:rPr>
              <a:t>Interactive dashboard, maps, trends and comparisons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3657600"/>
            <a:ext cx="29718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3657600"/>
            <a:ext cx="73152" cy="713232"/>
          </a:xfrm>
          <a:prstGeom prst="rect">
            <a:avLst/>
          </a:prstGeom>
          <a:solidFill>
            <a:srgbClr val="2E5B73"/>
          </a:solidFill>
          <a:ln w="12700">
            <a:solidFill>
              <a:srgbClr val="2E5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91272" y="37856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C33"/>
                </a:solidFill>
              </a:rPr>
              <a:t>Python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915400" y="3749040"/>
            <a:ext cx="1527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767D"/>
                </a:solidFill>
              </a:rPr>
              <a:t>Cleaning logic, EDA and analytical decisions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7880" y="457200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4572000"/>
            <a:ext cx="73152" cy="713232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47091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C33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46725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7767D"/>
                </a:solidFill>
              </a:rPr>
              <a:t>Leakage-aware regression and model evaluation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Excel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PivotTables and focused visual checks used to surface the first patterns.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188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2EBD9"/>
          </a:solidFill>
          <a:ln w="12700">
            <a:solidFill>
              <a:srgbClr val="F2E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5272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445A"/>
                </a:solidFill>
              </a:rPr>
              <a:t>PIVOT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3063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10" dirty="0">
                <a:solidFill>
                  <a:srgbClr val="1E2C33"/>
                </a:solidFill>
              </a:rPr>
              <a:t>Used PivotTables to compare average USD prices across countries and food categories.</a:t>
            </a:r>
            <a:endParaRPr lang="en-US" sz="1210" dirty="0"/>
          </a:p>
          <a:p>
            <a:pPr marL="165100" indent="-165100">
              <a:buSzPct val="100000"/>
              <a:buChar char="•"/>
            </a:pPr>
            <a:r>
              <a:rPr lang="en-US" sz="1210" dirty="0">
                <a:solidFill>
                  <a:srgbClr val="1E2C33"/>
                </a:solidFill>
              </a:rPr>
              <a:t>Built focused views for top/bottom countries and monthly price movement for Wheat vs. Sugar.</a:t>
            </a:r>
            <a:endParaRPr lang="en-US" sz="1210" dirty="0"/>
          </a:p>
          <a:p>
            <a:pPr marL="165100" indent="-165100">
              <a:buSzPct val="100000"/>
              <a:buChar char="•"/>
            </a:pPr>
            <a:r>
              <a:rPr lang="en-US" sz="1210" dirty="0">
                <a:solidFill>
                  <a:srgbClr val="1E2C33"/>
                </a:solidFill>
              </a:rPr>
              <a:t>Kept the analysis simple and decision-oriented before moving into dashboarding tools.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3977640" y="1170432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pres_assets/excel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1318378"/>
            <a:ext cx="3383280" cy="18986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1170432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pres_assets/excel_categ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318378"/>
            <a:ext cx="3383280" cy="18986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7764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/mnt/data/pres_assets/excel_bottom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804781"/>
            <a:ext cx="3383280" cy="190019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1812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/mnt/data/pres_assets/excel_wheat_sug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3804015"/>
            <a:ext cx="3383280" cy="19017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445A"/>
                </a:solidFill>
              </a:rPr>
              <a:t>The Excel stage acted as a compact first pass: identify where prices differ, which categories matter, and where time patterns are visible.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58368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7767D"/>
                </a:solidFill>
              </a:rPr>
              <a:t>Source: project Excel workbook (Pivot Table + Dashboard sheets).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2.1 Excel – Key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The first analytical layer highlighted large geographic and category differences.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Geographic spread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767D"/>
                </a:solidFill>
              </a:rPr>
              <a:t>Top 5 countries by average price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Syria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246120" y="2331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1445A"/>
                </a:solidFill>
              </a:rPr>
              <a:t>$397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2880360" cy="0"/>
          </a:xfrm>
          <a:prstGeom prst="line">
            <a:avLst/>
          </a:prstGeom>
          <a:noFill/>
          <a:ln w="10160">
            <a:solidFill>
              <a:srgbClr val="D8E0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South Sudan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246120" y="28072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1445A"/>
                </a:solidFill>
              </a:rPr>
              <a:t>$342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2880360" cy="0"/>
          </a:xfrm>
          <a:prstGeom prst="line">
            <a:avLst/>
          </a:prstGeom>
          <a:noFill/>
          <a:ln w="10160">
            <a:solidFill>
              <a:srgbClr val="D8E0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82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Somalia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246120" y="32826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1445A"/>
                </a:solidFill>
              </a:rPr>
              <a:t>$261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14400" y="3529584"/>
            <a:ext cx="2880360" cy="0"/>
          </a:xfrm>
          <a:prstGeom prst="line">
            <a:avLst/>
          </a:prstGeom>
          <a:noFill/>
          <a:ln w="10160">
            <a:solidFill>
              <a:srgbClr val="D8E0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58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Yemen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246120" y="37581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1445A"/>
                </a:solidFill>
              </a:rPr>
              <a:t>$85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4005072"/>
            <a:ext cx="2880360" cy="0"/>
          </a:xfrm>
          <a:prstGeom prst="line">
            <a:avLst/>
          </a:prstGeom>
          <a:noFill/>
          <a:ln w="10160">
            <a:solidFill>
              <a:srgbClr val="D8E0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Tanzania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246120" y="42336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1445A"/>
                </a:solidFill>
              </a:rPr>
              <a:t>$72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14400" y="4480560"/>
            <a:ext cx="2880360" cy="0"/>
          </a:xfrm>
          <a:prstGeom prst="line">
            <a:avLst/>
          </a:prstGeom>
          <a:noFill/>
          <a:ln w="10160">
            <a:solidFill>
              <a:srgbClr val="D8E0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Bottom 5 values in the workbook were below $1 per average record, showing how widely the global price scale varies across the dataset.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526280" y="123444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Category signal</a:t>
            </a:r>
            <a:endParaRPr lang="en-US" sz="1300" dirty="0"/>
          </a:p>
        </p:txBody>
      </p:sp>
      <p:pic>
        <p:nvPicPr>
          <p:cNvPr id="25" name="Image 0" descr="/mnt/data/pres_assets/excel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113291"/>
            <a:ext cx="2880360" cy="161643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800600" y="42245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C33"/>
                </a:solidFill>
              </a:rPr>
              <a:t>Meat, fish and eggs were the highest-priced category in the workbook analysis, followed by non-food and milk &amp; dairy.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73568" y="123444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47888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Monthly movement</a:t>
            </a:r>
            <a:endParaRPr lang="en-US" sz="1300" dirty="0"/>
          </a:p>
        </p:txBody>
      </p:sp>
      <p:pic>
        <p:nvPicPr>
          <p:cNvPr id="29" name="Image 1" descr="/mnt/data/pres_assets/excel_wheat_sug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062322"/>
            <a:ext cx="3154680" cy="177323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47888" y="42702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C33"/>
                </a:solidFill>
              </a:rPr>
              <a:t>The workbook also compared Wheat and Sugar by month, showing different price trajectories across the observed months.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Power BI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From cleaned rows to a reusable analytical model.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15214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5EEF2"/>
          </a:solidFill>
          <a:ln w="12700">
            <a:solidFill>
              <a:srgbClr val="E5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1615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445A"/>
                </a:solidFill>
              </a:rPr>
              <a:t>DATA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36576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Power Query removed records with null/empty values in key fields; the cleaned dataset contained 84,920 rows.</a:t>
            </a:r>
            <a:endParaRPr lang="en-US" sz="1220" dirty="0"/>
          </a:p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Built a Star Schema with Fact_FoodPrices and dimensions for Location, Commodity, Price and Date.</a:t>
            </a:r>
            <a:endParaRPr lang="en-US" sz="1220" dirty="0"/>
          </a:p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Created one-to-many relationships with single-direction filtering from dimensions to the fact table.</a:t>
            </a:r>
            <a:endParaRPr lang="en-US" sz="1220" dirty="0"/>
          </a:p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Added a measures table for Avg Price USD, Total Commodities, Total Countries and Total Records.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526280" y="1261872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Star Schema</a:t>
            </a:r>
            <a:endParaRPr lang="en-US" sz="1300" dirty="0"/>
          </a:p>
        </p:txBody>
      </p:sp>
      <p:pic>
        <p:nvPicPr>
          <p:cNvPr id="9" name="Image 0" descr="/mnt/data/docx_media/powerbi_imag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282136"/>
            <a:ext cx="2834640" cy="1836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00600" y="4709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7767D"/>
                </a:solidFill>
              </a:rPr>
              <a:t>Dimensions feed the central fact table; the Date dimension provides Year, Month, Month Name, Quarter and Day.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909560" y="1261872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8388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Date dimension</a:t>
            </a:r>
            <a:endParaRPr lang="en-US" sz="1300" dirty="0"/>
          </a:p>
        </p:txBody>
      </p:sp>
      <p:pic>
        <p:nvPicPr>
          <p:cNvPr id="13" name="Image 1" descr="/mnt/data/docx_media/powerbi_image_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874520"/>
            <a:ext cx="2819400" cy="1691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83880" y="3767328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70" dirty="0">
                <a:solidFill>
                  <a:srgbClr val="1E2C33"/>
                </a:solidFill>
              </a:rPr>
              <a:t>Continuous date range based on MinDate and MaxDate in the fact table.</a:t>
            </a:r>
            <a:endParaRPr lang="en-US" sz="1070" dirty="0"/>
          </a:p>
          <a:p>
            <a:pPr marL="165100" indent="-165100">
              <a:buSzPct val="100000"/>
              <a:buChar char="•"/>
            </a:pPr>
            <a:r>
              <a:rPr lang="en-US" sz="1070" dirty="0">
                <a:solidFill>
                  <a:srgbClr val="1E2C33"/>
                </a:solidFill>
              </a:rPr>
              <a:t>DAX-generated calendar attributes support time analysis across the dashboard.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3.1 Power BI – Dashboard &amp;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Interactive filters, KPIs and multiple views connected to the Star Schema.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90956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docx_media/powerbi_imag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27301"/>
            <a:ext cx="7680960" cy="42800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05088" y="1170432"/>
            <a:ext cx="2880360" cy="1042416"/>
          </a:xfrm>
          <a:prstGeom prst="roundRect">
            <a:avLst>
              <a:gd name="adj" fmla="val 7018"/>
            </a:avLst>
          </a:prstGeom>
          <a:solidFill>
            <a:srgbClr val="E5EEF2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42832" y="1417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45A"/>
                </a:solidFill>
              </a:rPr>
              <a:t>Dashboard KPIs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42832" y="16642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C33"/>
                </a:solidFill>
              </a:rPr>
              <a:t>84,920 records  •  59 countries  •  539 commodities  •  $84.06 avg USD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705088" y="246888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42832" y="2743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45A"/>
                </a:solidFill>
              </a:rPr>
              <a:t>Geographic hierarchy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42832" y="30632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7767D"/>
                </a:solidFill>
              </a:rPr>
              <a:t>Country → Admin 1 → Admin 2 → Market enables drill-down by geography.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705088" y="406908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42832" y="4343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45A"/>
                </a:solidFill>
              </a:rPr>
              <a:t>Price story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42832" y="46634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7767D"/>
                </a:solidFill>
              </a:rPr>
              <a:t>Meat, fish &amp; eggs averaged about $402; Syria, South Sudan and Somalia were the highest-priced countries in this dashboard view.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Tableau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A second interactive dashboard focused on visual exploration.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docx_media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635" y="1298448"/>
            <a:ext cx="7819962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KPI cards • filters • price trend • category comparison • map • top commodities • retail vs wholesale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4.1 Tableau – What the dashboard makes visible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Interactive views make the patterns easier to compare and explore.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docx_media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028"/>
            <a:ext cx="3383280" cy="17388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07408" y="11887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docx_media/imag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497402"/>
            <a:ext cx="3154680" cy="16320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74152" y="1188720"/>
            <a:ext cx="351129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9" name="Image 2" descr="/mnt/data/docx_media/image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470585"/>
            <a:ext cx="3246120" cy="16856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94360" y="3657600"/>
            <a:ext cx="1099108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96112" y="4041648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4F7F6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24128" y="4224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445A"/>
                </a:solidFill>
              </a:rPr>
              <a:t>Price trend</a:t>
            </a:r>
            <a:endParaRPr lang="en-US" sz="1020" dirty="0"/>
          </a:p>
        </p:txBody>
      </p:sp>
      <p:sp>
        <p:nvSpPr>
          <p:cNvPr id="13" name="Text 8"/>
          <p:cNvSpPr/>
          <p:nvPr/>
        </p:nvSpPr>
        <p:spPr>
          <a:xfrm>
            <a:off x="1033272" y="45079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7767D"/>
                </a:solidFill>
              </a:rPr>
              <a:t>Average price rises sharply in spring, then falls through the rest of the year.</a:t>
            </a:r>
            <a:endParaRPr lang="en-US" sz="920" dirty="0"/>
          </a:p>
        </p:txBody>
      </p:sp>
      <p:sp>
        <p:nvSpPr>
          <p:cNvPr id="14" name="Shape 9"/>
          <p:cNvSpPr/>
          <p:nvPr/>
        </p:nvSpPr>
        <p:spPr>
          <a:xfrm>
            <a:off x="3575304" y="4041648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4F7F6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703320" y="4224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E8C9A"/>
                </a:solidFill>
              </a:rPr>
              <a:t>Category</a:t>
            </a:r>
            <a:endParaRPr lang="en-US" sz="1020" dirty="0"/>
          </a:p>
        </p:txBody>
      </p:sp>
      <p:sp>
        <p:nvSpPr>
          <p:cNvPr id="16" name="Text 11"/>
          <p:cNvSpPr/>
          <p:nvPr/>
        </p:nvSpPr>
        <p:spPr>
          <a:xfrm>
            <a:off x="3712464" y="45079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7767D"/>
                </a:solidFill>
              </a:rPr>
              <a:t>Meat/fish/eggs is the highest-priced category in the dashboard view.</a:t>
            </a:r>
            <a:endParaRPr lang="en-US" sz="920" dirty="0"/>
          </a:p>
        </p:txBody>
      </p:sp>
      <p:sp>
        <p:nvSpPr>
          <p:cNvPr id="17" name="Shape 12"/>
          <p:cNvSpPr/>
          <p:nvPr/>
        </p:nvSpPr>
        <p:spPr>
          <a:xfrm>
            <a:off x="6254496" y="4041648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4F7F6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82512" y="4224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5B5A6"/>
                </a:solidFill>
              </a:rPr>
              <a:t>Geography</a:t>
            </a:r>
            <a:endParaRPr lang="en-US" sz="1020" dirty="0"/>
          </a:p>
        </p:txBody>
      </p:sp>
      <p:sp>
        <p:nvSpPr>
          <p:cNvPr id="19" name="Text 14"/>
          <p:cNvSpPr/>
          <p:nvPr/>
        </p:nvSpPr>
        <p:spPr>
          <a:xfrm>
            <a:off x="6391656" y="45079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7767D"/>
                </a:solidFill>
              </a:rPr>
              <a:t>The map shows the concentration of sampled markets across regions.</a:t>
            </a:r>
            <a:endParaRPr lang="en-US" sz="920" dirty="0"/>
          </a:p>
        </p:txBody>
      </p:sp>
      <p:sp>
        <p:nvSpPr>
          <p:cNvPr id="20" name="Shape 15"/>
          <p:cNvSpPr/>
          <p:nvPr/>
        </p:nvSpPr>
        <p:spPr>
          <a:xfrm>
            <a:off x="8933688" y="4041648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4F7F6"/>
          </a:solidFill>
          <a:ln w="12700">
            <a:solidFill>
              <a:srgbClr val="D8E0D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061704" y="4224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7A85D"/>
                </a:solidFill>
              </a:rPr>
              <a:t>Retail vs Wholesale</a:t>
            </a:r>
            <a:endParaRPr lang="en-US" sz="1020" dirty="0"/>
          </a:p>
        </p:txBody>
      </p:sp>
      <p:sp>
        <p:nvSpPr>
          <p:cNvPr id="22" name="Text 17"/>
          <p:cNvSpPr/>
          <p:nvPr/>
        </p:nvSpPr>
        <p:spPr>
          <a:xfrm>
            <a:off x="9070848" y="45079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7767D"/>
                </a:solidFill>
              </a:rPr>
              <a:t>Retail observations dominate the dataset by share.</a:t>
            </a:r>
            <a:endParaRPr lang="en-US" sz="920" dirty="0"/>
          </a:p>
        </p:txBody>
      </p:sp>
      <p:sp>
        <p:nvSpPr>
          <p:cNvPr id="23" name="Text 18"/>
          <p:cNvSpPr/>
          <p:nvPr/>
        </p:nvSpPr>
        <p:spPr>
          <a:xfrm>
            <a:off x="868680" y="60533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7767D"/>
                </a:solidFill>
              </a:rPr>
              <a:t>Interactive filters used: Countryiso3, Category, Pricetype and Date.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Python – Analysis &amp; Data Preparation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Python provided the deeper cleaning logic and exploratory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5EEF2"/>
          </a:solidFill>
          <a:ln w="12700">
            <a:solidFill>
              <a:srgbClr val="E5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0700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445A"/>
                </a:solidFill>
              </a:rPr>
              <a:t>DATA QUALITY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581912"/>
            <a:ext cx="320040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1E2C33"/>
                </a:solidFill>
              </a:rPr>
              <a:t>Checked shape, data types, missing values, duplicates and unique values.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1E2C33"/>
                </a:solidFill>
              </a:rPr>
              <a:t>Cleaned dataset: 84,920 rows from an original 85,289 rows.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1E2C33"/>
                </a:solidFill>
              </a:rPr>
              <a:t>Identified inconsistent units and filtered per-unit comparisons to KG where appropriate.</a:t>
            </a:r>
            <a:endParaRPr lang="en-US" sz="1170" dirty="0"/>
          </a:p>
          <a:p>
            <a:pPr marL="165100" indent="-165100">
              <a:buSzPct val="100000"/>
              <a:buChar char="•"/>
            </a:pPr>
            <a:r>
              <a:rPr lang="en-US" sz="1170" dirty="0">
                <a:solidFill>
                  <a:srgbClr val="1E2C33"/>
                </a:solidFill>
              </a:rPr>
              <a:t>Excluded market_id and commodity_id from correlation analysis because they are reference IDs, not measurements.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4114800" y="121615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704587"/>
            <a:ext cx="2267712" cy="12451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12280" y="121615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docx_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1619135"/>
            <a:ext cx="2267712" cy="14160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509760" y="1216152"/>
            <a:ext cx="2057400" cy="22402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/mnt/data/docx_media/image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531237"/>
            <a:ext cx="1828800" cy="159182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14800" y="3703320"/>
            <a:ext cx="7452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407408" y="3977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Analytical choices that improved the story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25696" y="4389120"/>
            <a:ext cx="6629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E2C33"/>
                </a:solidFill>
              </a:rPr>
              <a:t>• Commodity × category was highly sparse because each commodity belongs to one category.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E2C33"/>
                </a:solidFill>
              </a:rPr>
              <a:t>• Commodity × month gave a more informative heatmap.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E2C33"/>
                </a:solidFill>
              </a:rPr>
              <a:t>• Median price was often more robust than average when outliers dominated the distribution.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5.1 Python – Key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The exploratory stage exposed the strongest patterns and the main data-quality caveats.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" cy="1783080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Coverage is uneven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767D"/>
                </a:solidFill>
              </a:rPr>
              <a:t>Syria, Philippines and Benin had the largest record counts in the analysis.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325880"/>
            <a:ext cx="91440" cy="1783080"/>
          </a:xfrm>
          <a:prstGeom prst="rect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Outliers matter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0391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767D"/>
                </a:solidFill>
              </a:rPr>
              <a:t>The USD price distribution had a long upper tail; a small number of observations strongly affected means.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91440" cy="1783080"/>
          </a:xfrm>
          <a:prstGeom prst="rect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Category hierarchy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4223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767D"/>
                </a:solidFill>
              </a:rPr>
              <a:t>Cereals &amp; tubers and vegetables &amp; fruits made up almost half of the records.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126480" y="34290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429000"/>
            <a:ext cx="91440" cy="1783080"/>
          </a:xfrm>
          <a:prstGeom prst="rect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Price over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14223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767D"/>
                </a:solidFill>
              </a:rPr>
              <a:t>Some categories showed sharp spikes in spring 2026, with much flatter levels in other months.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13232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Python was the layer where the team challenged the data first, so later dashboard and ML decisions could be based on a cleaner analytical foundation.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Machine Learning – Problem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Moving from “what happened?” to “can we predict the price?”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07008"/>
            <a:ext cx="64008" cy="960120"/>
          </a:xfrm>
          <a:prstGeom prst="rect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ML rows after filtering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1591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41,944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971800" y="1207008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1207008"/>
            <a:ext cx="64008" cy="960120"/>
          </a:xfrm>
          <a:prstGeom prst="rect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Target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36392" y="1591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usdprice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303520" y="1207008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207008"/>
            <a:ext cx="64008" cy="960120"/>
          </a:xfrm>
          <a:prstGeom prst="rect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Target scale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68112" y="1591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USD / kg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635240" y="1207008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207008"/>
            <a:ext cx="64008" cy="960120"/>
          </a:xfrm>
          <a:prstGeom prst="rect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Observation dates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99832" y="1591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966960" y="1207008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6960" y="1207008"/>
            <a:ext cx="64008" cy="960120"/>
          </a:xfrm>
          <a:prstGeom prst="rect">
            <a:avLst/>
          </a:prstGeom>
          <a:solidFill>
            <a:srgbClr val="2E5B73"/>
          </a:solidFill>
          <a:ln w="12700">
            <a:solidFill>
              <a:srgbClr val="2E5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1552" y="13533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Test size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131552" y="1591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445A"/>
                </a:solidFill>
              </a:rPr>
              <a:t>20%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2487168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2770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Modeling population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182112"/>
            <a:ext cx="2468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unit = KG</a:t>
            </a:r>
            <a:endParaRPr lang="en-US" sz="1220" dirty="0"/>
          </a:p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pricetype = Retail</a:t>
            </a:r>
            <a:endParaRPr lang="en-US" sz="1220" dirty="0"/>
          </a:p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1E2C33"/>
                </a:solidFill>
              </a:rPr>
              <a:t>priceflag = actual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7767D"/>
                </a:solidFill>
              </a:rPr>
              <a:t>The filter creates one consistent measurement basis and keeps actual retail price observations.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553712" y="2487168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8032" y="2770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Feature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E2C33"/>
                </a:solidFill>
              </a:rPr>
              <a:t>Country • Admin 1 • Admin 2 • Market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E2C33"/>
                </a:solidFill>
              </a:rPr>
              <a:t>Category • Commodity • Month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E2C33"/>
                </a:solidFill>
              </a:rPr>
              <a:t>(+ fixed pipeline fields)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828032" y="44988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7767D"/>
                </a:solidFill>
              </a:rPr>
              <a:t>Excluded: local-currency price, reference IDs, and coordinates in the final feature matrix.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8019288" y="2487168"/>
            <a:ext cx="35661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93608" y="2770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Leakage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93608" y="3273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8C9A"/>
                </a:solidFill>
              </a:rPr>
              <a:t>GroupShuffleSplit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93608" y="3657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C33"/>
                </a:solidFill>
              </a:rPr>
              <a:t>Groups = country + market + commodity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29360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67D"/>
                </a:solidFill>
              </a:rPr>
              <a:t>33,552 train rows  |  8,392 test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7767D"/>
                </a:solidFill>
              </a:rPr>
              <a:t>14,057 train groups | 3,515 test groups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7767D"/>
                </a:solidFill>
              </a:rPr>
              <a:t>Overlapping groups = 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6.1 ML – Model Development &amp; Experiments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The final model came from controlled comparisons, not from choosing one algorithm at the start.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Target transformation experiments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Model / target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MAE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RMSE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R²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28116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767D"/>
                </a:solidFill>
              </a:rPr>
              <a:t>Decision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59536" y="2148840"/>
            <a:ext cx="10716768" cy="393192"/>
          </a:xfrm>
          <a:prstGeom prst="rect">
            <a:avLst/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Linear + log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657600" y="2212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3.0694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69280" y="2212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15.6676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40664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0.9492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281160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C33"/>
                </a:solidFill>
              </a:rPr>
              <a:t>Retained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1440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Linear + raw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657600" y="2679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10.8312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69280" y="2679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28.9535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406640" y="2679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0.8264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281160" y="2679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C33"/>
                </a:solidFill>
              </a:rPr>
              <a:t>Not used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59536" y="3081528"/>
            <a:ext cx="10716768" cy="393192"/>
          </a:xfrm>
          <a:prstGeom prst="rect">
            <a:avLst/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1455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Basic XGB + log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657600" y="31455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2.7623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669280" y="31455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15.5449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0664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0.9500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281160" y="3145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C33"/>
                </a:solidFill>
              </a:rPr>
              <a:t>Not used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14400" y="3611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Basic XGB + raw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657600" y="3611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2.3594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669280" y="3611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11.3357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406640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0.9734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28116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C33"/>
                </a:solidFill>
              </a:rPr>
              <a:t>Retained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59536" y="4014216"/>
            <a:ext cx="10716768" cy="393192"/>
          </a:xfrm>
          <a:prstGeom prst="rect">
            <a:avLst/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Tuned XGB + log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657600" y="40782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2.5256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669280" y="40782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14.3848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406640" y="40782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C33"/>
                </a:solidFill>
              </a:rPr>
              <a:t>0.9571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281160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C33"/>
                </a:solidFill>
              </a:rPr>
              <a:t>Not used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4400" y="4544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1445A"/>
                </a:solidFill>
              </a:rPr>
              <a:t>Tuned XGB + raw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3657600" y="4544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445A"/>
                </a:solidFill>
              </a:rPr>
              <a:t>2.2316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669280" y="4544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445A"/>
                </a:solidFill>
              </a:rPr>
              <a:t>11.2245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406640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445A"/>
                </a:solidFill>
              </a:rPr>
              <a:t>0.9739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9281160" y="4544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445A"/>
                </a:solidFill>
              </a:rPr>
              <a:t>Retained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68680" y="5138928"/>
            <a:ext cx="10698480" cy="0"/>
          </a:xfrm>
          <a:prstGeom prst="line">
            <a:avLst/>
          </a:prstGeom>
          <a:noFill/>
          <a:ln w="12700">
            <a:solidFill>
              <a:srgbClr val="D8E0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28523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Alternative model tested: CatBoost Regressor → MAE 2.8425 | RMSE 16.0394 | R² 0.9467 → not retained in the final notebook.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914400" y="566928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1445A"/>
                </a:solidFill>
              </a:rPr>
              <a:t>Key decision: log transformation helped Linear Regression, while XGBoost performed better on the raw price target.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6.2 ML – Final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All final metrics are reported on the original USD/kg scale using the same held-out test 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4983480" cy="534924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445A"/>
                </a:solidFill>
              </a:rPr>
              <a:t>Final comparison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7767D"/>
                </a:solidFill>
              </a:rPr>
              <a:t>Model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3246120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7767D"/>
                </a:solidFill>
              </a:rPr>
              <a:t>MAE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206240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7767D"/>
                </a:solidFill>
              </a:rPr>
              <a:t>RMSE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010912" y="1847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7767D"/>
                </a:solidFill>
              </a:rPr>
              <a:t>R²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E2C33"/>
                </a:solidFill>
              </a:rPr>
              <a:t>Linear Regression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246120" y="2258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3.0694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206240" y="2258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15.6676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010912" y="2258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0.9492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14400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E2C33"/>
                </a:solidFill>
              </a:rPr>
              <a:t>Basic XGBoost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3246120" y="2953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2.3594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206240" y="2953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11.3357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10912" y="2953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E2C33"/>
                </a:solidFill>
              </a:rPr>
              <a:t>0.9734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59536" y="3538728"/>
            <a:ext cx="4389120" cy="576072"/>
          </a:xfrm>
          <a:prstGeom prst="roundRect">
            <a:avLst>
              <a:gd name="adj" fmla="val 7937"/>
            </a:avLst>
          </a:prstGeom>
          <a:solidFill>
            <a:srgbClr val="EAF2F0"/>
          </a:solidFill>
          <a:ln w="12700">
            <a:solidFill>
              <a:srgbClr val="BFD4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48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1445A"/>
                </a:solidFill>
              </a:rPr>
              <a:t>Tuned XGBoost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3246120" y="36484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1445A"/>
                </a:solidFill>
              </a:rPr>
              <a:t>2.2316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4206240" y="36484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1445A"/>
                </a:solidFill>
              </a:rPr>
              <a:t>11.2245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5010912" y="3648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1445A"/>
                </a:solidFill>
              </a:rPr>
              <a:t>0.9739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914400" y="455371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MAE: average absolute error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RMSE: penalizes larger errors more strongly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7767D"/>
                </a:solidFill>
              </a:rPr>
              <a:t>R²: proportion of variance explained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445A"/>
                </a:solidFill>
              </a:rPr>
              <a:t>Tuned XGBoost reached MAE = 2.2316 USD/kg, RMSE = 11.2245 USD/kg and R² = 0.9739.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5833872" y="1417320"/>
            <a:ext cx="1783080" cy="4526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/mnt/data/docx_media/imag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4" y="2781002"/>
            <a:ext cx="1627632" cy="122284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0" y="53583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1445A"/>
                </a:solidFill>
              </a:rPr>
              <a:t>Linear Regression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7790688" y="1417320"/>
            <a:ext cx="1783080" cy="4526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1" descr="/mnt/data/docx_media/image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826114"/>
            <a:ext cx="1627632" cy="11326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900416" y="53583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1445A"/>
                </a:solidFill>
              </a:rPr>
              <a:t>Basic XGBoost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9747504" y="1417320"/>
            <a:ext cx="1783080" cy="4526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pic>
        <p:nvPicPr>
          <p:cNvPr id="32" name="Image 2" descr="/mnt/data/docx_media/image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56" y="2762553"/>
            <a:ext cx="1627632" cy="125974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857232" y="53583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1445A"/>
                </a:solidFill>
              </a:rPr>
              <a:t>Tuned XGBoost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4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Final Takeaway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767D"/>
                </a:solidFill>
              </a:rPr>
              <a:t>The project combines descriptive analysis, modeling, and prediction into one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397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27632"/>
            <a:ext cx="384048" cy="384048"/>
          </a:xfrm>
          <a:prstGeom prst="ellipse">
            <a:avLst/>
          </a:prstGeom>
          <a:solidFill>
            <a:srgbClr val="C7A85D"/>
          </a:solidFill>
          <a:ln w="12700">
            <a:solidFill>
              <a:srgbClr val="C7A8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572768" y="16550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3"/>
                </a:solidFill>
              </a:rPr>
              <a:t>Excel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60934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Found the first geographic, category and monthly signals.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152144" y="2020824"/>
            <a:ext cx="0" cy="320040"/>
          </a:xfrm>
          <a:prstGeom prst="line">
            <a:avLst/>
          </a:prstGeom>
          <a:noFill/>
          <a:ln w="15240">
            <a:solidFill>
              <a:srgbClr val="D8E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77440"/>
            <a:ext cx="384048" cy="384048"/>
          </a:xfrm>
          <a:prstGeom prst="ellipse">
            <a:avLst/>
          </a:prstGeom>
          <a:solidFill>
            <a:srgbClr val="5E8C9A"/>
          </a:solidFill>
          <a:ln w="12700">
            <a:solidFill>
              <a:srgbClr val="5E8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780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572768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3"/>
                </a:solidFill>
              </a:rPr>
              <a:t>Power BI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35915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Built a Star Schema and interactive dashboard for structured exploration.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152144" y="2770632"/>
            <a:ext cx="0" cy="320040"/>
          </a:xfrm>
          <a:prstGeom prst="line">
            <a:avLst/>
          </a:prstGeom>
          <a:noFill/>
          <a:ln w="15240">
            <a:solidFill>
              <a:srgbClr val="D8E0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127248"/>
            <a:ext cx="384048" cy="384048"/>
          </a:xfrm>
          <a:prstGeom prst="ellipse">
            <a:avLst/>
          </a:prstGeom>
          <a:solidFill>
            <a:srgbClr val="A5B5A6"/>
          </a:solidFill>
          <a:ln w="12700">
            <a:solidFill>
              <a:srgbClr val="A5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27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572768" y="31546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3"/>
                </a:solidFill>
              </a:rPr>
              <a:t>Tableau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310896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Added a second interactive view focused on trends, maps and comparisons.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1152144" y="3520440"/>
            <a:ext cx="0" cy="320040"/>
          </a:xfrm>
          <a:prstGeom prst="line">
            <a:avLst/>
          </a:prstGeom>
          <a:noFill/>
          <a:ln w="15240">
            <a:solidFill>
              <a:srgbClr val="D8E0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877056"/>
            <a:ext cx="384048" cy="384048"/>
          </a:xfrm>
          <a:prstGeom prst="ellipse">
            <a:avLst/>
          </a:prstGeom>
          <a:solidFill>
            <a:srgbClr val="2E5B73"/>
          </a:solidFill>
          <a:ln w="12700">
            <a:solidFill>
              <a:srgbClr val="2E5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776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04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572768" y="39044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3"/>
                </a:solidFill>
              </a:rPr>
              <a:t>Python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385876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Validated data quality and refined the analytical choices.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152144" y="4270248"/>
            <a:ext cx="0" cy="320040"/>
          </a:xfrm>
          <a:prstGeom prst="line">
            <a:avLst/>
          </a:prstGeom>
          <a:noFill/>
          <a:ln w="15240">
            <a:solidFill>
              <a:srgbClr val="D8E0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626864"/>
            <a:ext cx="384048" cy="384048"/>
          </a:xfrm>
          <a:prstGeom prst="ellipse">
            <a:avLst/>
          </a:prstGeom>
          <a:solidFill>
            <a:srgbClr val="21445A"/>
          </a:solidFill>
          <a:ln w="12700">
            <a:solidFill>
              <a:srgbClr val="214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7274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05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572768" y="46542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3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54680" y="460857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7767D"/>
                </a:solidFill>
              </a:rPr>
              <a:t>Converted the descriptive problem into a regression task and achieved R² = 0.9739.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14400" y="5440680"/>
            <a:ext cx="10378440" cy="0"/>
          </a:xfrm>
          <a:prstGeom prst="line">
            <a:avLst/>
          </a:prstGeom>
          <a:noFill/>
          <a:ln w="12700">
            <a:solidFill>
              <a:srgbClr val="D8E0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66928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445A"/>
                </a:solidFill>
              </a:rPr>
              <a:t>Current ML task: price prediction, not time-series forecasting, because the filtered ML dataset contains only five observation dates.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02352" y="6144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8C9A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B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NTI Advanced Data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Food Prices 2026 – End-to-End Data Analysis &amp; Prediction</dc:title>
  <dc:subject>WFP Global Food Prices 2026 – End-to-End Analysis and Prediction</dc:subject>
  <dc:creator>NTI Advanced Data Analysis Team</dc:creator>
  <cp:lastModifiedBy>NTI Advanced Data Analysis Team</cp:lastModifiedBy>
  <cp:revision>1</cp:revision>
  <dcterms:created xsi:type="dcterms:W3CDTF">2026-09-17T23:29:02Z</dcterms:created>
  <dcterms:modified xsi:type="dcterms:W3CDTF">2026-09-17T23:29:02Z</dcterms:modified>
</cp:coreProperties>
</file>